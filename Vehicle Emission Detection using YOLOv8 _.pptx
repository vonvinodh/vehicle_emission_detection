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2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792">
          <p15:clr>
            <a:srgbClr val="A4A3A4"/>
          </p15:clr>
        </p15:guide>
        <p15:guide id="2" pos="192">
          <p15:clr>
            <a:srgbClr val="A4A3A4"/>
          </p15:clr>
        </p15:guide>
        <p15:guide id="3" orient="horz" pos="1080">
          <p15:clr>
            <a:srgbClr val="A4A3A4"/>
          </p15:clr>
        </p15:guide>
      </p15:sldGuideLst>
    </p:ext>
    <p:ext uri="http://customooxmlschemas.google.com/">
      <go:slidesCustomData xmlns=""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220" roundtripDataSignature="AMtx7miWNY2LB4ETJwrL8F0N+EK9hEhq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8E82A8-A2B3-7F28-7AC7-A606E9859F0C}" v="321" dt="2025-09-11T10:05:58.138"/>
    <p1510:client id="{ED477B80-1E78-433F-A1D0-ED00FCECE9C2}" v="948" dt="2025-09-11T08:08:39.8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0" y="78"/>
      </p:cViewPr>
      <p:guideLst>
        <p:guide orient="horz" pos="792"/>
        <p:guide pos="192"/>
        <p:guide orient="horz" pos="10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22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22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20" Type="http://customschemas.google.com/relationships/presentationmetadata" Target="metadata"/><Relationship Id="rId225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22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3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341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7878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1877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8266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10;p4" descr="A close up of a sign&#10;&#10;Description automatically generated">
            <a:extLst>
              <a:ext uri="{FF2B5EF4-FFF2-40B4-BE49-F238E27FC236}">
                <a16:creationId xmlns:a16="http://schemas.microsoft.com/office/drawing/2014/main" id="{CE849A3B-BCF0-B774-F89E-81965C71F93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72688" y="78002"/>
            <a:ext cx="1800225" cy="57551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153E6A6-60E4-FE14-1CBC-8CC211274D1C}"/>
              </a:ext>
            </a:extLst>
          </p:cNvPr>
          <p:cNvSpPr/>
          <p:nvPr/>
        </p:nvSpPr>
        <p:spPr>
          <a:xfrm>
            <a:off x="1" y="0"/>
            <a:ext cx="9829800" cy="717630"/>
          </a:xfrm>
          <a:prstGeom prst="rect">
            <a:avLst/>
          </a:prstGeom>
          <a:solidFill>
            <a:srgbClr val="213264"/>
          </a:solidFill>
          <a:ln>
            <a:solidFill>
              <a:srgbClr val="2132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7CE881-772B-9023-3054-4B219B75D755}"/>
              </a:ext>
            </a:extLst>
          </p:cNvPr>
          <p:cNvSpPr/>
          <p:nvPr/>
        </p:nvSpPr>
        <p:spPr>
          <a:xfrm>
            <a:off x="9888967" y="-419"/>
            <a:ext cx="112283" cy="732357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1" name="Picture 30" descr="A blue and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16A7B69A-9B14-87FE-841D-37F0A91D141D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 amt="16000"/>
          </a:blip>
          <a:srcRect t="24724" r="1619" b="63695"/>
          <a:stretch/>
        </p:blipFill>
        <p:spPr>
          <a:xfrm>
            <a:off x="0" y="-1"/>
            <a:ext cx="9839325" cy="72390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7B91A16-5D54-2FC0-B0FD-A78085FC1313}"/>
              </a:ext>
            </a:extLst>
          </p:cNvPr>
          <p:cNvSpPr/>
          <p:nvPr/>
        </p:nvSpPr>
        <p:spPr>
          <a:xfrm>
            <a:off x="11925300" y="-419"/>
            <a:ext cx="266700" cy="732357"/>
          </a:xfrm>
          <a:prstGeom prst="rect">
            <a:avLst/>
          </a:prstGeom>
          <a:solidFill>
            <a:srgbClr val="FED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  <p:sldLayoutId id="2147483701" r:id="rId2"/>
    <p:sldLayoutId id="2147483714" r:id="rId3"/>
    <p:sldLayoutId id="2147483727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freepik.com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erson sitting at a desk with a computer&#10;&#10;Description automatically generated">
            <a:extLst>
              <a:ext uri="{FF2B5EF4-FFF2-40B4-BE49-F238E27FC236}">
                <a16:creationId xmlns:a16="http://schemas.microsoft.com/office/drawing/2014/main" id="{07B8740D-C76F-46FC-AEFB-23FB0614D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1857762-AD52-483C-B3E1-635C5BBC6F2F}"/>
              </a:ext>
            </a:extLst>
          </p:cNvPr>
          <p:cNvSpPr/>
          <p:nvPr/>
        </p:nvSpPr>
        <p:spPr>
          <a:xfrm>
            <a:off x="5873750" y="584200"/>
            <a:ext cx="4673600" cy="977900"/>
          </a:xfrm>
          <a:prstGeom prst="roundRect">
            <a:avLst/>
          </a:prstGeom>
          <a:solidFill>
            <a:srgbClr val="EBEEF9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067E9C-C7B9-4476-9708-CBB3F66FD892}"/>
              </a:ext>
            </a:extLst>
          </p:cNvPr>
          <p:cNvSpPr txBox="1"/>
          <p:nvPr/>
        </p:nvSpPr>
        <p:spPr>
          <a:xfrm>
            <a:off x="4151586" y="3429000"/>
            <a:ext cx="6870861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IN" sz="3600">
                <a:solidFill>
                  <a:schemeClr val="bg1"/>
                </a:solidFill>
              </a:rPr>
              <a:t>Vehicle Emission Detection using YOLOv8 </a:t>
            </a:r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7224A59-2417-428A-A991-E468431BB817}"/>
              </a:ext>
            </a:extLst>
          </p:cNvPr>
          <p:cNvGrpSpPr/>
          <p:nvPr/>
        </p:nvGrpSpPr>
        <p:grpSpPr>
          <a:xfrm>
            <a:off x="6890523" y="742091"/>
            <a:ext cx="2640053" cy="664378"/>
            <a:chOff x="2375536" y="1112060"/>
            <a:chExt cx="3292636" cy="828603"/>
          </a:xfrm>
        </p:grpSpPr>
        <p:pic>
          <p:nvPicPr>
            <p:cNvPr id="7" name="Picture 6" descr="A close up of a logo&#10;&#10;Description automatically generated">
              <a:extLst>
                <a:ext uri="{FF2B5EF4-FFF2-40B4-BE49-F238E27FC236}">
                  <a16:creationId xmlns:a16="http://schemas.microsoft.com/office/drawing/2014/main" id="{BD3530AF-9771-470E-A9BF-F28AA22753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2781" y="1270168"/>
              <a:ext cx="1575391" cy="512386"/>
            </a:xfrm>
            <a:prstGeom prst="rect">
              <a:avLst/>
            </a:prstGeom>
          </p:spPr>
        </p:pic>
        <p:pic>
          <p:nvPicPr>
            <p:cNvPr id="8" name="Picture 7" descr="A yellow and red shell logo&#10;&#10;Description automatically generated">
              <a:extLst>
                <a:ext uri="{FF2B5EF4-FFF2-40B4-BE49-F238E27FC236}">
                  <a16:creationId xmlns:a16="http://schemas.microsoft.com/office/drawing/2014/main" id="{75E6A819-9F3F-4787-A707-A7415C302B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75536" y="1112060"/>
              <a:ext cx="985475" cy="8286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7127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94E319-C77C-49E2-964C-6E125D716194}"/>
              </a:ext>
            </a:extLst>
          </p:cNvPr>
          <p:cNvSpPr txBox="1"/>
          <p:nvPr/>
        </p:nvSpPr>
        <p:spPr>
          <a:xfrm>
            <a:off x="191911" y="972537"/>
            <a:ext cx="26528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213163"/>
                </a:solidFill>
              </a:rPr>
              <a:t>Learning Objectives</a:t>
            </a:r>
            <a:endParaRPr lang="en-IN" sz="2000" dirty="0">
              <a:solidFill>
                <a:srgbClr val="213163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1F3497-5370-4874-9908-5AD45214E10B}"/>
              </a:ext>
            </a:extLst>
          </p:cNvPr>
          <p:cNvSpPr txBox="1"/>
          <p:nvPr/>
        </p:nvSpPr>
        <p:spPr>
          <a:xfrm>
            <a:off x="199809" y="6135329"/>
            <a:ext cx="7958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b="1" dirty="0">
                <a:latin typeface="+mn-lt"/>
              </a:rPr>
              <a:t>Source :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E830DD-8813-42EB-B27B-B7D85423D0C7}"/>
              </a:ext>
            </a:extLst>
          </p:cNvPr>
          <p:cNvSpPr txBox="1"/>
          <p:nvPr/>
        </p:nvSpPr>
        <p:spPr>
          <a:xfrm>
            <a:off x="880529" y="6135329"/>
            <a:ext cx="1842351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dirty="0">
                <a:solidFill>
                  <a:srgbClr val="0000FF"/>
                </a:solidFill>
                <a:latin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www.freepik.com</a:t>
            </a:r>
            <a:endParaRPr lang="en-IN" sz="1200" dirty="0">
              <a:solidFill>
                <a:srgbClr val="0000FF"/>
              </a:solidFill>
              <a:latin typeface="+mn-lt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22F707-7F22-48A3-97EC-98EFB1023A55}"/>
              </a:ext>
            </a:extLst>
          </p:cNvPr>
          <p:cNvCxnSpPr/>
          <p:nvPr/>
        </p:nvCxnSpPr>
        <p:spPr>
          <a:xfrm>
            <a:off x="0" y="605536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ladder leading to a large yellow circle&#10;&#10;Description automatically generated">
            <a:extLst>
              <a:ext uri="{FF2B5EF4-FFF2-40B4-BE49-F238E27FC236}">
                <a16:creationId xmlns:a16="http://schemas.microsoft.com/office/drawing/2014/main" id="{E2920B14-B344-4926-9729-BC7EBD91FF9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85000"/>
          </a:blip>
          <a:srcRect l="13763" t="6135" r="13650"/>
          <a:stretch/>
        </p:blipFill>
        <p:spPr>
          <a:xfrm>
            <a:off x="7464743" y="1418907"/>
            <a:ext cx="4500880" cy="46329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264928-EACB-4739-BDDA-6799C99356F3}"/>
              </a:ext>
            </a:extLst>
          </p:cNvPr>
          <p:cNvSpPr txBox="1"/>
          <p:nvPr/>
        </p:nvSpPr>
        <p:spPr>
          <a:xfrm>
            <a:off x="8839200" y="3168609"/>
            <a:ext cx="150368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3500" b="1" dirty="0">
                <a:solidFill>
                  <a:schemeClr val="tx1"/>
                </a:solidFill>
                <a:latin typeface="+mn-lt"/>
              </a:rPr>
              <a:t>GOAL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29A777-48FB-99DD-465C-C44253187958}"/>
              </a:ext>
            </a:extLst>
          </p:cNvPr>
          <p:cNvSpPr txBox="1"/>
          <p:nvPr/>
        </p:nvSpPr>
        <p:spPr>
          <a:xfrm>
            <a:off x="308956" y="1440050"/>
            <a:ext cx="7160417" cy="436273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AutoNum type="arabicPeriod"/>
            </a:pPr>
            <a:r>
              <a:rPr lang="en-US" sz="1850" dirty="0"/>
              <a:t>Understand the impact of vehicle emissions on air quality and health  </a:t>
            </a:r>
            <a:endParaRPr lang="en-US" dirty="0"/>
          </a:p>
          <a:p>
            <a:pPr marL="457200" indent="-457200">
              <a:buAutoNum type="arabicPeriod"/>
            </a:pPr>
            <a:r>
              <a:rPr lang="en-US" sz="1850" dirty="0"/>
              <a:t>Learn the basics of object detection using YOLOv8  </a:t>
            </a:r>
            <a:endParaRPr lang="en-US" dirty="0"/>
          </a:p>
          <a:p>
            <a:pPr marL="457200" indent="-457200">
              <a:buAutoNum type="arabicPeriod"/>
            </a:pPr>
            <a:r>
              <a:rPr lang="en-US" sz="1850" dirty="0"/>
              <a:t>Gain hands-on experience with dataset preprocessing and annotation  </a:t>
            </a:r>
            <a:endParaRPr lang="en-US"/>
          </a:p>
          <a:p>
            <a:pPr marL="457200" indent="-457200">
              <a:buAutoNum type="arabicPeriod"/>
            </a:pPr>
            <a:r>
              <a:rPr lang="en-US" sz="1850" dirty="0"/>
              <a:t>Apply machine learning to detect visible smoke from vehicles  </a:t>
            </a:r>
            <a:endParaRPr lang="en-US" dirty="0"/>
          </a:p>
          <a:p>
            <a:pPr marL="457200" indent="-457200">
              <a:buAutoNum type="arabicPeriod"/>
            </a:pPr>
            <a:r>
              <a:rPr lang="en-US" sz="1850" dirty="0"/>
              <a:t>Train, validate, and test a custom YOLOv8 model  </a:t>
            </a:r>
            <a:endParaRPr lang="en-US" dirty="0"/>
          </a:p>
          <a:p>
            <a:pPr marL="457200" indent="-457200">
              <a:buAutoNum type="arabicPeriod"/>
            </a:pPr>
            <a:r>
              <a:rPr lang="en-US" sz="1850" dirty="0"/>
              <a:t>Analyze model performance using metrics (Precision, Recall, </a:t>
            </a:r>
            <a:r>
              <a:rPr lang="en-US" sz="1850" dirty="0" err="1"/>
              <a:t>mAP</a:t>
            </a:r>
            <a:r>
              <a:rPr lang="en-US" sz="1850" dirty="0"/>
              <a:t>)  </a:t>
            </a:r>
            <a:endParaRPr lang="en-US" dirty="0"/>
          </a:p>
          <a:p>
            <a:pPr marL="457200" indent="-457200">
              <a:buAutoNum type="arabicPeriod"/>
            </a:pPr>
            <a:r>
              <a:rPr lang="en-US" sz="1850" dirty="0"/>
              <a:t>Demonstrate inference results on real-world images  </a:t>
            </a:r>
            <a:endParaRPr lang="en-US" dirty="0"/>
          </a:p>
          <a:p>
            <a:pPr marL="457200" indent="-457200">
              <a:buAutoNum type="arabicPeriod"/>
            </a:pPr>
            <a:r>
              <a:rPr lang="en-US" sz="1850" dirty="0"/>
              <a:t>Identify challenges (false positives, dataset imbalance) and propose improvements  </a:t>
            </a:r>
            <a:endParaRPr lang="en-US" dirty="0"/>
          </a:p>
          <a:p>
            <a:pPr marL="457200" indent="-457200">
              <a:buAutoNum type="arabicPeriod"/>
            </a:pPr>
            <a:r>
              <a:rPr lang="en-US" sz="1850" dirty="0"/>
              <a:t>Explore the potential of deploying this system for real-time traffic monitoring  </a:t>
            </a:r>
            <a:endParaRPr lang="en-US" dirty="0"/>
          </a:p>
          <a:p>
            <a:pPr marL="457200" indent="-457200">
              <a:buAutoNum type="arabicPeriod"/>
            </a:pPr>
            <a:endParaRPr lang="en-US" sz="1850" dirty="0"/>
          </a:p>
        </p:txBody>
      </p:sp>
    </p:spTree>
    <p:extLst>
      <p:ext uri="{BB962C8B-B14F-4D97-AF65-F5344CB8AC3E}">
        <p14:creationId xmlns:p14="http://schemas.microsoft.com/office/powerpoint/2010/main" val="2932052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135834" y="1067664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213163"/>
                </a:solidFill>
              </a:rPr>
              <a:t>T</a:t>
            </a:r>
            <a:r>
              <a:rPr lang="en-IN" sz="2000" b="1" dirty="0" err="1">
                <a:solidFill>
                  <a:srgbClr val="213163"/>
                </a:solidFill>
              </a:rPr>
              <a:t>ools</a:t>
            </a:r>
            <a:r>
              <a:rPr lang="en-IN" sz="2000" b="1" dirty="0">
                <a:solidFill>
                  <a:srgbClr val="213163"/>
                </a:solidFill>
              </a:rPr>
              <a:t> and Technology used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6CDB72-2264-F40C-A719-2E821A64E123}"/>
              </a:ext>
            </a:extLst>
          </p:cNvPr>
          <p:cNvSpPr txBox="1"/>
          <p:nvPr/>
        </p:nvSpPr>
        <p:spPr>
          <a:xfrm>
            <a:off x="646367" y="1621066"/>
            <a:ext cx="7850978" cy="2226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Source:</a:t>
            </a:r>
            <a:endParaRPr lang="en-US" sz="2000" dirty="0"/>
          </a:p>
          <a:p>
            <a:pPr marL="457200" indent="-457200">
              <a:buAutoNum type="arabicPeriod"/>
            </a:pPr>
            <a:r>
              <a:rPr lang="en-US" sz="2000" dirty="0"/>
              <a:t>Dataset collected from public sources (vehicles + smoke images) </a:t>
            </a:r>
          </a:p>
          <a:p>
            <a:pPr marL="457200" indent="-457200">
              <a:buAutoNum type="arabicPeriod"/>
            </a:pPr>
            <a:r>
              <a:rPr lang="en-US" sz="2000" dirty="0"/>
              <a:t>Preprocessing scripts for cleaning and labeling data  </a:t>
            </a:r>
          </a:p>
          <a:p>
            <a:pPr marL="457200" indent="-457200">
              <a:buAutoNum type="arabicPeriod"/>
            </a:pPr>
            <a:r>
              <a:rPr lang="en-US" sz="2000" dirty="0"/>
              <a:t>YOLOv8 framework from </a:t>
            </a:r>
            <a:r>
              <a:rPr lang="en-US" sz="2000" dirty="0" err="1"/>
              <a:t>Ultralytics</a:t>
            </a:r>
            <a:r>
              <a:rPr lang="en-US" sz="2000" dirty="0"/>
              <a:t> as base model </a:t>
            </a:r>
          </a:p>
          <a:p>
            <a:pPr marL="457200" indent="-457200">
              <a:buAutoNum type="arabicPeriod"/>
            </a:pPr>
            <a:endParaRPr lang="en-US"/>
          </a:p>
          <a:p>
            <a:pPr algn="l"/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FFB301-C37C-4D45-EF8F-29641E5E63AB}"/>
              </a:ext>
            </a:extLst>
          </p:cNvPr>
          <p:cNvSpPr txBox="1"/>
          <p:nvPr/>
        </p:nvSpPr>
        <p:spPr>
          <a:xfrm>
            <a:off x="540221" y="4069313"/>
            <a:ext cx="9517855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Tools and Technology:</a:t>
            </a:r>
          </a:p>
          <a:p>
            <a:pPr marL="457200" indent="-457200">
              <a:buAutoNum type="arabicPeriod"/>
            </a:pPr>
            <a:r>
              <a:rPr lang="en-US" sz="2000" dirty="0"/>
              <a:t>Programming Language: Python </a:t>
            </a:r>
          </a:p>
          <a:p>
            <a:pPr marL="457200" indent="-457200">
              <a:buAutoNum type="arabicPeriod"/>
            </a:pPr>
            <a:r>
              <a:rPr lang="en-US" sz="2000" dirty="0"/>
              <a:t>Framework: </a:t>
            </a:r>
            <a:r>
              <a:rPr lang="en-US" sz="2000" err="1"/>
              <a:t>Ultralytics</a:t>
            </a:r>
            <a:r>
              <a:rPr lang="en-US" sz="2000" dirty="0"/>
              <a:t> YOLOv8 </a:t>
            </a:r>
          </a:p>
          <a:p>
            <a:pPr marL="457200" indent="-457200">
              <a:buAutoNum type="arabicPeriod"/>
            </a:pPr>
            <a:r>
              <a:rPr lang="en-US" sz="2000" dirty="0"/>
              <a:t>Libraries: OpenCV, Matplotlib, Torch </a:t>
            </a:r>
          </a:p>
          <a:p>
            <a:pPr marL="457200" indent="-457200">
              <a:buAutoNum type="arabicPeriod"/>
            </a:pPr>
            <a:r>
              <a:rPr lang="en-US" sz="2000" dirty="0"/>
              <a:t>Version Control: Git &amp; GitHub </a:t>
            </a:r>
          </a:p>
          <a:p>
            <a:pPr marL="457200" indent="-457200" algn="l">
              <a:buAutoNum type="arabicPeriod"/>
            </a:pPr>
            <a:r>
              <a:rPr lang="en-US" sz="2000" dirty="0"/>
              <a:t>Dataset Storage: Google Drive </a:t>
            </a:r>
          </a:p>
        </p:txBody>
      </p:sp>
    </p:spTree>
    <p:extLst>
      <p:ext uri="{BB962C8B-B14F-4D97-AF65-F5344CB8AC3E}">
        <p14:creationId xmlns:p14="http://schemas.microsoft.com/office/powerpoint/2010/main" val="564571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68356" y="1014656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Methodology</a:t>
            </a:r>
            <a:r>
              <a:rPr lang="en-US" sz="1800" b="1" dirty="0">
                <a:solidFill>
                  <a:srgbClr val="213163"/>
                </a:solidFill>
              </a:rPr>
              <a:t> </a:t>
            </a:r>
            <a:endParaRPr lang="en-IN" sz="1800" dirty="0">
              <a:solidFill>
                <a:srgbClr val="213163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CC3F1F-E4A3-2293-A782-5F7F8994623B}"/>
              </a:ext>
            </a:extLst>
          </p:cNvPr>
          <p:cNvSpPr txBox="1"/>
          <p:nvPr/>
        </p:nvSpPr>
        <p:spPr>
          <a:xfrm>
            <a:off x="151956" y="1424915"/>
            <a:ext cx="11684791" cy="49321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Ø"/>
            </a:pPr>
            <a:r>
              <a:rPr lang="en-US" sz="1850" i="1" dirty="0">
                <a:solidFill>
                  <a:srgbClr val="7030A0"/>
                </a:solidFill>
              </a:rPr>
              <a:t>Problem Identification</a:t>
            </a:r>
            <a:r>
              <a:rPr lang="en-US" sz="1850" dirty="0">
                <a:solidFill>
                  <a:srgbClr val="7030A0"/>
                </a:solidFill>
              </a:rPr>
              <a:t> </a:t>
            </a:r>
            <a:r>
              <a:rPr lang="en-US" sz="1850" dirty="0"/>
              <a:t> </a:t>
            </a:r>
            <a:endParaRPr lang="en-US" dirty="0"/>
          </a:p>
          <a:p>
            <a:r>
              <a:rPr lang="en-US" sz="1850" dirty="0"/>
              <a:t>     Recognizing vehicle smoke emission as a major cause of air pollution.  </a:t>
            </a:r>
          </a:p>
          <a:p>
            <a:pPr marL="342900" indent="-342900">
              <a:buFont typeface="Wingdings"/>
              <a:buChar char="Ø"/>
            </a:pPr>
            <a:r>
              <a:rPr lang="en-US" sz="1850" i="1" dirty="0">
                <a:solidFill>
                  <a:srgbClr val="7030A0"/>
                </a:solidFill>
              </a:rPr>
              <a:t>Data Collection </a:t>
            </a:r>
            <a:r>
              <a:rPr lang="en-US" sz="1850" i="1" dirty="0"/>
              <a:t> </a:t>
            </a:r>
            <a:endParaRPr lang="en-US" i="1" dirty="0"/>
          </a:p>
          <a:p>
            <a:r>
              <a:rPr lang="en-US" sz="1850" dirty="0"/>
              <a:t>     Gathered vehicle + smoke images from open datasets  </a:t>
            </a:r>
            <a:endParaRPr lang="en-US" dirty="0"/>
          </a:p>
          <a:p>
            <a:pPr marL="342900" indent="-342900">
              <a:buFont typeface="Wingdings"/>
              <a:buChar char="Ø"/>
            </a:pPr>
            <a:r>
              <a:rPr lang="en-US" sz="1850" i="1" dirty="0">
                <a:solidFill>
                  <a:srgbClr val="7030A0"/>
                </a:solidFill>
              </a:rPr>
              <a:t>Data Preprocessing </a:t>
            </a:r>
            <a:r>
              <a:rPr lang="en-US" sz="1850" dirty="0"/>
              <a:t> </a:t>
            </a:r>
            <a:endParaRPr lang="en-US" dirty="0"/>
          </a:p>
          <a:p>
            <a:r>
              <a:rPr lang="en-US" sz="1850" dirty="0"/>
              <a:t>     Resized images, verified labels, removed duplicates/corrupt files  </a:t>
            </a:r>
            <a:endParaRPr lang="en-US" dirty="0"/>
          </a:p>
          <a:p>
            <a:pPr marL="342900" indent="-342900">
              <a:buFont typeface="Wingdings"/>
              <a:buChar char="Ø"/>
            </a:pPr>
            <a:r>
              <a:rPr lang="en-US" sz="1850" i="1" dirty="0">
                <a:solidFill>
                  <a:srgbClr val="7030A0"/>
                </a:solidFill>
              </a:rPr>
              <a:t>Model Training  </a:t>
            </a:r>
          </a:p>
          <a:p>
            <a:r>
              <a:rPr lang="en-US" sz="1850" dirty="0"/>
              <a:t>     Trained YOLOv8 model on annotated dataset  </a:t>
            </a:r>
            <a:endParaRPr lang="en-US" dirty="0"/>
          </a:p>
          <a:p>
            <a:r>
              <a:rPr lang="en-US" sz="1850" dirty="0"/>
              <a:t>     Validated using precision, recall, </a:t>
            </a:r>
            <a:r>
              <a:rPr lang="en-US" sz="1850" err="1"/>
              <a:t>mAP</a:t>
            </a:r>
            <a:r>
              <a:rPr lang="en-US" sz="1850" dirty="0"/>
              <a:t>  </a:t>
            </a:r>
            <a:endParaRPr lang="en-US" dirty="0"/>
          </a:p>
          <a:p>
            <a:pPr marL="342900" indent="-342900">
              <a:buFont typeface="Wingdings"/>
              <a:buChar char="Ø"/>
            </a:pPr>
            <a:r>
              <a:rPr lang="en-US" sz="1850" i="1" dirty="0">
                <a:solidFill>
                  <a:srgbClr val="7030A0"/>
                </a:solidFill>
              </a:rPr>
              <a:t>Model Evaluation </a:t>
            </a:r>
            <a:r>
              <a:rPr lang="en-US" sz="1850" dirty="0"/>
              <a:t> </a:t>
            </a:r>
            <a:endParaRPr lang="en-US" dirty="0"/>
          </a:p>
          <a:p>
            <a:r>
              <a:rPr lang="en-US" sz="1850" dirty="0"/>
              <a:t>     Analyzed training curves &amp; confusion matrix  </a:t>
            </a:r>
            <a:endParaRPr lang="en-US" dirty="0"/>
          </a:p>
          <a:p>
            <a:pPr marL="342900" indent="-342900">
              <a:buFont typeface="Wingdings"/>
              <a:buChar char="Ø"/>
            </a:pPr>
            <a:r>
              <a:rPr lang="en-US" sz="1850" i="1" dirty="0">
                <a:solidFill>
                  <a:srgbClr val="7030A0"/>
                </a:solidFill>
              </a:rPr>
              <a:t>Inference &amp; Analysis</a:t>
            </a:r>
            <a:r>
              <a:rPr lang="en-US" sz="1850" dirty="0"/>
              <a:t>  </a:t>
            </a:r>
            <a:endParaRPr lang="en-US" dirty="0"/>
          </a:p>
          <a:p>
            <a:r>
              <a:rPr lang="en-US" sz="1850" dirty="0"/>
              <a:t>     Ran predictions on test images  </a:t>
            </a:r>
            <a:endParaRPr lang="en-US" dirty="0"/>
          </a:p>
          <a:p>
            <a:r>
              <a:rPr lang="en-US" sz="1850" dirty="0"/>
              <a:t>     Compared correct detections vs false positives  </a:t>
            </a:r>
            <a:endParaRPr lang="en-US" dirty="0"/>
          </a:p>
          <a:p>
            <a:pPr marL="342900" indent="-342900">
              <a:buFont typeface="Wingdings"/>
              <a:buChar char="Ø"/>
            </a:pPr>
            <a:r>
              <a:rPr lang="en-US" sz="1850" i="1" dirty="0">
                <a:solidFill>
                  <a:srgbClr val="7030A0"/>
                </a:solidFill>
              </a:rPr>
              <a:t>Deployment Readiness  </a:t>
            </a:r>
            <a:endParaRPr lang="en-US" i="1" dirty="0"/>
          </a:p>
          <a:p>
            <a:r>
              <a:rPr lang="en-US" sz="1850" dirty="0"/>
              <a:t>     Saved best weights for future real-time use  </a:t>
            </a:r>
            <a:endParaRPr lang="en-US" dirty="0"/>
          </a:p>
          <a:p>
            <a:endParaRPr lang="en-US" sz="1850" dirty="0"/>
          </a:p>
        </p:txBody>
      </p:sp>
    </p:spTree>
    <p:extLst>
      <p:ext uri="{BB962C8B-B14F-4D97-AF65-F5344CB8AC3E}">
        <p14:creationId xmlns:p14="http://schemas.microsoft.com/office/powerpoint/2010/main" val="2706790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Problem Statement: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5D7667-6FBA-58EC-80E6-27254E8880D0}"/>
              </a:ext>
            </a:extLst>
          </p:cNvPr>
          <p:cNvSpPr txBox="1"/>
          <p:nvPr/>
        </p:nvSpPr>
        <p:spPr>
          <a:xfrm>
            <a:off x="256892" y="1554472"/>
            <a:ext cx="9732167" cy="34778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Vehicle smoke emissions are one of the leading contributors to urban air pollution.  </a:t>
            </a:r>
          </a:p>
          <a:p>
            <a:r>
              <a:rPr lang="en-US" sz="2000" dirty="0"/>
              <a:t>Currently, smoke detection is carried out manually, which is inefficient, time-consuming, and prone to human error.  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There is a need for an automated, AI-based system that can accurately detect and monitor vehicles emitting visible smoke, ensuring better pollution control and assisting traffic authorities in enforcement.  </a:t>
            </a:r>
          </a:p>
          <a:p>
            <a:pPr algn="l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965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Solution: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1840A4-3E9A-24AB-6938-1A4550BF806E}"/>
              </a:ext>
            </a:extLst>
          </p:cNvPr>
          <p:cNvSpPr txBox="1"/>
          <p:nvPr/>
        </p:nvSpPr>
        <p:spPr>
          <a:xfrm>
            <a:off x="397951" y="1441867"/>
            <a:ext cx="11172823" cy="49963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ü"/>
            </a:pPr>
            <a:r>
              <a:rPr lang="en-US" sz="2000" dirty="0"/>
              <a:t>Developed an AI-powered system using YOLOv8 for smoke  emission  detection.  </a:t>
            </a:r>
          </a:p>
          <a:p>
            <a:pPr marL="342900" indent="-342900">
              <a:buFont typeface="Wingdings"/>
              <a:buChar char="ü"/>
            </a:pPr>
            <a:endParaRPr lang="en-US" sz="2000" dirty="0"/>
          </a:p>
          <a:p>
            <a:pPr marL="342900" indent="-342900">
              <a:buFont typeface="Wingdings"/>
              <a:buChar char="ü"/>
            </a:pPr>
            <a:r>
              <a:rPr lang="en-US" sz="2000" dirty="0"/>
              <a:t>Detects and localizes vehicles emitting visible smoke with bounding boxes. </a:t>
            </a:r>
          </a:p>
          <a:p>
            <a:pPr marL="342900" indent="-342900">
              <a:buFont typeface="Wingdings"/>
              <a:buChar char="ü"/>
            </a:pPr>
            <a:endParaRPr lang="en-US"/>
          </a:p>
          <a:p>
            <a:pPr marL="342900" indent="-342900">
              <a:buFont typeface="Wingdings"/>
              <a:buChar char="ü"/>
            </a:pPr>
            <a:r>
              <a:rPr lang="en-US" sz="2000" dirty="0"/>
              <a:t>Uses a labeled dataset of vehicles with/without smoke for training.  </a:t>
            </a:r>
          </a:p>
          <a:p>
            <a:pPr marL="342900" indent="-342900">
              <a:buFont typeface="Wingdings"/>
              <a:buChar char="ü"/>
            </a:pPr>
            <a:endParaRPr lang="en-US" sz="2000" dirty="0"/>
          </a:p>
          <a:p>
            <a:pPr marL="342900" indent="-342900">
              <a:buFont typeface="Wingdings"/>
              <a:buChar char="ü"/>
            </a:pPr>
            <a:r>
              <a:rPr lang="en-US" sz="2000" dirty="0"/>
              <a:t>Automatically processes new images or CCTV footage in real-time.  </a:t>
            </a:r>
          </a:p>
          <a:p>
            <a:pPr marL="342900" indent="-342900">
              <a:buFont typeface="Wingdings"/>
              <a:buChar char="ü"/>
            </a:pPr>
            <a:endParaRPr lang="en-US" sz="2000" dirty="0"/>
          </a:p>
          <a:p>
            <a:pPr marL="342900" indent="-342900">
              <a:buFont typeface="Wingdings"/>
              <a:buChar char="ü"/>
            </a:pPr>
            <a:r>
              <a:rPr lang="en-US" sz="2000" dirty="0"/>
              <a:t>Reduces manual effort and human error in monitoring emissions.  </a:t>
            </a:r>
          </a:p>
          <a:p>
            <a:pPr marL="342900" indent="-342900">
              <a:buFont typeface="Wingdings"/>
              <a:buChar char="ü"/>
            </a:pPr>
            <a:endParaRPr lang="en-US" sz="2000" dirty="0"/>
          </a:p>
          <a:p>
            <a:pPr marL="342900" indent="-342900">
              <a:buFont typeface="Wingdings"/>
              <a:buChar char="ü"/>
            </a:pPr>
            <a:r>
              <a:rPr lang="en-US" sz="2000" dirty="0"/>
              <a:t>Can generate alerts for traffic authorities when smoke is detected.  </a:t>
            </a:r>
          </a:p>
          <a:p>
            <a:pPr marL="342900" indent="-342900">
              <a:buFont typeface="Wingdings"/>
              <a:buChar char="ü"/>
            </a:pPr>
            <a:endParaRPr lang="en-US" sz="2000" dirty="0"/>
          </a:p>
          <a:p>
            <a:pPr marL="342900" indent="-342900">
              <a:buFont typeface="Wingdings"/>
              <a:buChar char="ü"/>
            </a:pPr>
            <a:r>
              <a:rPr lang="en-US" sz="2000" dirty="0"/>
              <a:t>Scalable for smart city deployments and pollution control initiatives.  </a:t>
            </a:r>
          </a:p>
          <a:p>
            <a:pPr marL="342900" indent="-342900">
              <a:buFont typeface="Wingdings"/>
              <a:buChar char="ü"/>
            </a:pPr>
            <a:endParaRPr lang="en-US" sz="2000" dirty="0"/>
          </a:p>
          <a:p>
            <a:pPr marL="342900" indent="-342900">
              <a:buFont typeface="Wingdings"/>
              <a:buChar char="ü"/>
            </a:pPr>
            <a:r>
              <a:rPr lang="en-US" sz="2000" dirty="0"/>
              <a:t>Provides a foundation for integrating with government databases and smart  traffic systems.  </a:t>
            </a:r>
          </a:p>
          <a:p>
            <a:pPr marL="342900" indent="-342900" algn="l">
              <a:buFont typeface="Wingdings"/>
              <a:buChar char="ü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02968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87206" y="757361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Screenshot of Output: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pic>
        <p:nvPicPr>
          <p:cNvPr id="2" name="Picture 1" descr="A red truck with smoke coming out of the back&#10;&#10;AI-generated content may be incorrect.">
            <a:extLst>
              <a:ext uri="{FF2B5EF4-FFF2-40B4-BE49-F238E27FC236}">
                <a16:creationId xmlns:a16="http://schemas.microsoft.com/office/drawing/2014/main" id="{134997DB-BE40-91D3-FD39-2EEA5393B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065075"/>
            <a:ext cx="2007718" cy="2240798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5" name="Picture 4" descr="A red truck on a road&#10;&#10;AI-generated content may be incorrect.">
            <a:extLst>
              <a:ext uri="{FF2B5EF4-FFF2-40B4-BE49-F238E27FC236}">
                <a16:creationId xmlns:a16="http://schemas.microsoft.com/office/drawing/2014/main" id="{D5671E6D-7188-700F-EBCF-A5303FA4AD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7505" y="4107655"/>
            <a:ext cx="2143934" cy="214393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6" name="Picture 5" descr="A group of white boxes with blue dots&#10;&#10;AI-generated content may be incorrect.">
            <a:extLst>
              <a:ext uri="{FF2B5EF4-FFF2-40B4-BE49-F238E27FC236}">
                <a16:creationId xmlns:a16="http://schemas.microsoft.com/office/drawing/2014/main" id="{1569BAE1-4417-BC0D-0A71-6A262FA325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1792" y="2751554"/>
            <a:ext cx="2763866" cy="223434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Picture 6" descr="A close-up of a graph&#10;&#10;AI-generated content may be incorrect.">
            <a:extLst>
              <a:ext uri="{FF2B5EF4-FFF2-40B4-BE49-F238E27FC236}">
                <a16:creationId xmlns:a16="http://schemas.microsoft.com/office/drawing/2014/main" id="{4C35FC85-899D-3B19-CA91-0C4B78A446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1593" y="1265695"/>
            <a:ext cx="2983425" cy="2156849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9" name="Picture 8" descr="A graph of confidence curve&#10;&#10;AI-generated content may be incorrect.">
            <a:extLst>
              <a:ext uri="{FF2B5EF4-FFF2-40B4-BE49-F238E27FC236}">
                <a16:creationId xmlns:a16="http://schemas.microsoft.com/office/drawing/2014/main" id="{E4CD1F9E-90C3-A7CE-55EF-0DD739EAB4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7992" y="1265695"/>
            <a:ext cx="2989882" cy="198895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EBC3CF6-3CF3-38C9-697E-42A863BEBA6A}"/>
              </a:ext>
            </a:extLst>
          </p:cNvPr>
          <p:cNvSpPr txBox="1"/>
          <p:nvPr/>
        </p:nvSpPr>
        <p:spPr>
          <a:xfrm>
            <a:off x="761999" y="3306305"/>
            <a:ext cx="2007030" cy="3770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50" b="1" dirty="0"/>
              <a:t>Training Curve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154A69-767A-CE63-23F6-1A9B58D6374A}"/>
              </a:ext>
            </a:extLst>
          </p:cNvPr>
          <p:cNvSpPr txBox="1"/>
          <p:nvPr/>
        </p:nvSpPr>
        <p:spPr>
          <a:xfrm>
            <a:off x="8704881" y="3500033"/>
            <a:ext cx="2743199" cy="3770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50" b="1" dirty="0"/>
              <a:t>Confusion Matrix</a:t>
            </a:r>
            <a:r>
              <a:rPr lang="en-US" sz="1850" dirty="0"/>
              <a:t> 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407D13-DE7C-5942-3ADF-CFAFC3050F33}"/>
              </a:ext>
            </a:extLst>
          </p:cNvPr>
          <p:cNvSpPr txBox="1"/>
          <p:nvPr/>
        </p:nvSpPr>
        <p:spPr>
          <a:xfrm>
            <a:off x="645763" y="6405966"/>
            <a:ext cx="2743199" cy="3770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50" b="1" dirty="0"/>
              <a:t>Correct Detection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D5072E-755B-8AFA-1376-C50A974661F3}"/>
              </a:ext>
            </a:extLst>
          </p:cNvPr>
          <p:cNvSpPr txBox="1"/>
          <p:nvPr/>
        </p:nvSpPr>
        <p:spPr>
          <a:xfrm>
            <a:off x="8963185" y="6405966"/>
            <a:ext cx="2743199" cy="3770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50" b="1" dirty="0"/>
              <a:t>False Positive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ED0589-F1B9-E641-EE99-5F283B8315AA}"/>
              </a:ext>
            </a:extLst>
          </p:cNvPr>
          <p:cNvSpPr txBox="1"/>
          <p:nvPr/>
        </p:nvSpPr>
        <p:spPr>
          <a:xfrm>
            <a:off x="5243593" y="5179017"/>
            <a:ext cx="2743199" cy="3770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850" b="1" dirty="0"/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1635949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4AE1A-5FD1-3D17-54DA-EDFFBD989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B047AE-7A52-A526-6910-714F3A66B7E5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Future Scope: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276988-D5A6-74C3-23A5-3FD3C563D254}"/>
              </a:ext>
            </a:extLst>
          </p:cNvPr>
          <p:cNvSpPr txBox="1"/>
          <p:nvPr/>
        </p:nvSpPr>
        <p:spPr>
          <a:xfrm>
            <a:off x="514188" y="1906816"/>
            <a:ext cx="11172823" cy="40806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ü"/>
            </a:pPr>
            <a:r>
              <a:rPr lang="en-US" sz="1850" dirty="0"/>
              <a:t> Train on larger and more diverse datasets to improve accuracy.  </a:t>
            </a:r>
          </a:p>
          <a:p>
            <a:pPr marL="342900" indent="-342900">
              <a:buFont typeface="Wingdings"/>
              <a:buChar char="ü"/>
            </a:pPr>
            <a:endParaRPr lang="en-US" sz="1850" dirty="0"/>
          </a:p>
          <a:p>
            <a:pPr marL="342900" indent="-342900">
              <a:buFont typeface="Wingdings"/>
              <a:buChar char="ü"/>
            </a:pPr>
            <a:r>
              <a:rPr lang="en-US" sz="1850" dirty="0"/>
              <a:t> Increase training epochs for better learning of smoke patterns.</a:t>
            </a:r>
          </a:p>
          <a:p>
            <a:pPr marL="342900" indent="-342900">
              <a:buFont typeface="Wingdings"/>
              <a:buChar char="ü"/>
            </a:pPr>
            <a:endParaRPr lang="en-US"/>
          </a:p>
          <a:p>
            <a:pPr marL="342900" indent="-342900">
              <a:buFont typeface="Wingdings"/>
              <a:buChar char="ü"/>
            </a:pPr>
            <a:r>
              <a:rPr lang="en-US" sz="1850" dirty="0"/>
              <a:t> Reduce false positives using advanced post-processing techniques.  </a:t>
            </a:r>
          </a:p>
          <a:p>
            <a:pPr marL="342900" indent="-342900">
              <a:buFont typeface="Wingdings"/>
              <a:buChar char="ü"/>
            </a:pPr>
            <a:endParaRPr lang="en-US" sz="1850" dirty="0"/>
          </a:p>
          <a:p>
            <a:pPr marL="342900" indent="-342900">
              <a:buFont typeface="Wingdings"/>
              <a:buChar char="ü"/>
            </a:pPr>
            <a:r>
              <a:rPr lang="en-US" sz="1850" dirty="0"/>
              <a:t>Deploy the system for real-time monitoring with CCTV integration.</a:t>
            </a:r>
          </a:p>
          <a:p>
            <a:pPr marL="342900" indent="-342900">
              <a:buFont typeface="Wingdings"/>
              <a:buChar char="ü"/>
            </a:pPr>
            <a:endParaRPr lang="en-US" sz="1850" dirty="0"/>
          </a:p>
          <a:p>
            <a:pPr marL="342900" indent="-342900">
              <a:buFont typeface="Wingdings"/>
              <a:buChar char="ü"/>
            </a:pPr>
            <a:r>
              <a:rPr lang="en-US" sz="1850" dirty="0"/>
              <a:t>Integrate with traffic police databases for automated alerts.  </a:t>
            </a:r>
          </a:p>
          <a:p>
            <a:pPr marL="342900" indent="-342900">
              <a:buFont typeface="Wingdings"/>
              <a:buChar char="ü"/>
            </a:pPr>
            <a:endParaRPr lang="en-US" sz="1850" dirty="0"/>
          </a:p>
          <a:p>
            <a:pPr marL="342900" indent="-342900">
              <a:buFont typeface="Wingdings"/>
              <a:buChar char="ü"/>
            </a:pPr>
            <a:r>
              <a:rPr lang="en-US" sz="1850" dirty="0"/>
              <a:t>Extend the model to detect other pollution sources (e.g., industrial smoke).</a:t>
            </a:r>
          </a:p>
          <a:p>
            <a:pPr marL="342900" indent="-342900">
              <a:buFont typeface="Wingdings"/>
              <a:buChar char="ü"/>
            </a:pPr>
            <a:endParaRPr lang="en-US" sz="1850" dirty="0"/>
          </a:p>
          <a:p>
            <a:pPr marL="342900" indent="-342900">
              <a:buFont typeface="Wingdings"/>
              <a:buChar char="ü"/>
            </a:pPr>
            <a:r>
              <a:rPr lang="en-US" sz="1850" dirty="0"/>
              <a:t>Explore cloud-based deployment for scalability in smart cities.  </a:t>
            </a:r>
          </a:p>
          <a:p>
            <a:pPr marL="342900" indent="-342900">
              <a:buFont typeface="Wingdings"/>
              <a:buChar char="ü"/>
            </a:pPr>
            <a:endParaRPr lang="en-US" sz="1850" dirty="0"/>
          </a:p>
        </p:txBody>
      </p:sp>
    </p:spTree>
    <p:extLst>
      <p:ext uri="{BB962C8B-B14F-4D97-AF65-F5344CB8AC3E}">
        <p14:creationId xmlns:p14="http://schemas.microsoft.com/office/powerpoint/2010/main" val="2867249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149087" y="988151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Conclusion:</a:t>
            </a:r>
            <a:r>
              <a:rPr lang="en-US" sz="1800" b="1" dirty="0">
                <a:solidFill>
                  <a:srgbClr val="213163"/>
                </a:solidFill>
              </a:rPr>
              <a:t>  </a:t>
            </a:r>
            <a:endParaRPr lang="en-IN" sz="1800" dirty="0">
              <a:solidFill>
                <a:srgbClr val="213163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16A26F-5730-A3B8-D274-8F1052942A12}"/>
              </a:ext>
            </a:extLst>
          </p:cNvPr>
          <p:cNvSpPr txBox="1"/>
          <p:nvPr/>
        </p:nvSpPr>
        <p:spPr>
          <a:xfrm>
            <a:off x="938212" y="1402556"/>
            <a:ext cx="10875168" cy="52194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v"/>
            </a:pPr>
            <a:r>
              <a:rPr lang="en-US" sz="1850" dirty="0"/>
              <a:t>Successfully implemented a YOLOv8-based system for detecting vehicle smoke emissions.</a:t>
            </a:r>
            <a:endParaRPr lang="en-US" dirty="0"/>
          </a:p>
          <a:p>
            <a:pPr marL="342900" indent="-342900">
              <a:buFont typeface="Wingdings"/>
              <a:buChar char="v"/>
            </a:pPr>
            <a:endParaRPr lang="en-US" sz="1850" dirty="0"/>
          </a:p>
          <a:p>
            <a:pPr marL="342900" indent="-342900">
              <a:buFont typeface="Wingdings"/>
              <a:buChar char="v"/>
            </a:pPr>
            <a:r>
              <a:rPr lang="en-US" sz="1850" dirty="0"/>
              <a:t>The model is able to identify vehicles emitting visible smoke with reasonable accuracy.</a:t>
            </a:r>
            <a:endParaRPr lang="en-US" dirty="0"/>
          </a:p>
          <a:p>
            <a:pPr marL="342900" indent="-342900">
              <a:buFont typeface="Wingdings"/>
              <a:buChar char="v"/>
            </a:pPr>
            <a:endParaRPr lang="en-US" dirty="0"/>
          </a:p>
          <a:p>
            <a:pPr marL="342900" indent="-342900">
              <a:buFont typeface="Wingdings"/>
              <a:buChar char="v"/>
            </a:pPr>
            <a:r>
              <a:rPr lang="en-US" sz="1850" dirty="0"/>
              <a:t>Demonstrated both correct detections and false positives during testing . </a:t>
            </a:r>
          </a:p>
          <a:p>
            <a:pPr marL="342900" indent="-342900">
              <a:buFont typeface="Wingdings"/>
              <a:buChar char="v"/>
            </a:pPr>
            <a:endParaRPr lang="en-US" sz="1850" dirty="0"/>
          </a:p>
          <a:p>
            <a:pPr marL="342900" indent="-342900">
              <a:buFont typeface="Wingdings"/>
              <a:buChar char="v"/>
            </a:pPr>
            <a:r>
              <a:rPr lang="en-US" sz="1850" dirty="0"/>
              <a:t>Limitations observed: small dataset size, few training epochs, occasional false positives.</a:t>
            </a:r>
            <a:endParaRPr lang="en-US" dirty="0"/>
          </a:p>
          <a:p>
            <a:r>
              <a:rPr lang="en-US" sz="1850" dirty="0"/>
              <a:t>  </a:t>
            </a:r>
          </a:p>
          <a:p>
            <a:pPr marL="342900" indent="-342900">
              <a:buFont typeface="Wingdings"/>
              <a:buChar char="v"/>
            </a:pPr>
            <a:r>
              <a:rPr lang="en-US" sz="1850" dirty="0"/>
              <a:t>Despite limitations, the project proves that AI can be effectively applied for environmental monitoring.</a:t>
            </a:r>
            <a:endParaRPr lang="en-US" dirty="0"/>
          </a:p>
          <a:p>
            <a:r>
              <a:rPr lang="en-US" sz="1850" dirty="0"/>
              <a:t>  </a:t>
            </a:r>
          </a:p>
          <a:p>
            <a:pPr marL="342900" indent="-342900">
              <a:buFont typeface="Wingdings"/>
              <a:buChar char="v"/>
            </a:pPr>
            <a:r>
              <a:rPr lang="en-US" sz="1850" dirty="0"/>
              <a:t>The system shows potential for real-world deployment in smart cities for traffic and pollution control</a:t>
            </a:r>
            <a:endParaRPr lang="en-US"/>
          </a:p>
          <a:p>
            <a:r>
              <a:rPr lang="en-US" sz="1850" dirty="0"/>
              <a:t>  </a:t>
            </a:r>
          </a:p>
          <a:p>
            <a:pPr marL="342900" indent="-342900">
              <a:buFont typeface="Wingdings"/>
              <a:buChar char="v"/>
            </a:pPr>
            <a:r>
              <a:rPr lang="en-US" sz="1850" dirty="0"/>
              <a:t>With larger datasets, longer training, and fine-tuning, accuracy can be further improved.</a:t>
            </a:r>
            <a:endParaRPr lang="en-US" dirty="0"/>
          </a:p>
          <a:p>
            <a:r>
              <a:rPr lang="en-US" sz="1850" dirty="0"/>
              <a:t>  </a:t>
            </a:r>
          </a:p>
          <a:p>
            <a:pPr marL="342900" indent="-342900">
              <a:buFont typeface="Wingdings"/>
              <a:buChar char="v"/>
            </a:pPr>
            <a:r>
              <a:rPr lang="en-US" sz="1850" dirty="0"/>
              <a:t>This project provides a foundation for future research in automated emission detection and enforcement systems  </a:t>
            </a:r>
            <a:endParaRPr lang="en-US" dirty="0"/>
          </a:p>
          <a:p>
            <a:pPr marL="342900" indent="-342900">
              <a:buFont typeface="Wingdings"/>
              <a:buChar char="v"/>
            </a:pPr>
            <a:endParaRPr lang="en-US" sz="1850" dirty="0"/>
          </a:p>
        </p:txBody>
      </p:sp>
    </p:spTree>
    <p:extLst>
      <p:ext uri="{BB962C8B-B14F-4D97-AF65-F5344CB8AC3E}">
        <p14:creationId xmlns:p14="http://schemas.microsoft.com/office/powerpoint/2010/main" val="151988358"/>
      </p:ext>
    </p:extLst>
  </p:cSld>
  <p:clrMapOvr>
    <a:masterClrMapping/>
  </p:clrMapOvr>
</p:sld>
</file>

<file path=ppt/theme/theme1.xml><?xml version="1.0" encoding="utf-8"?>
<a:theme xmlns:a="http://schemas.openxmlformats.org/drawingml/2006/main" name="Session 01 Design Thinking &amp; Critical Thinking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ession 01 Design Thinking &amp; Critical Thinking" id="{1DE73F69-F87A-4ED3-81C1-82D2BA622E0C}" vid="{37568650-F724-47C7-905E-9640F80174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Session 01 Design Thinking &amp; Critical Thinking</Template>
  <TotalTime>9</TotalTime>
  <Words>31</Words>
  <Application>Microsoft Office PowerPoint</Application>
  <PresentationFormat>Widescreen</PresentationFormat>
  <Paragraphs>11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Session 01 Design Thinking &amp; Critical Thinking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Mahesh Kurhe</dc:creator>
  <cp:lastModifiedBy>Mahesh Kurhe</cp:lastModifiedBy>
  <cp:revision>275</cp:revision>
  <dcterms:created xsi:type="dcterms:W3CDTF">2024-12-31T09:40:01Z</dcterms:created>
  <dcterms:modified xsi:type="dcterms:W3CDTF">2025-09-11T10:06:08Z</dcterms:modified>
</cp:coreProperties>
</file>